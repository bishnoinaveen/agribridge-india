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9728" cy="521208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INDIA AGRICULTURAL EQUIPMENT</a:t>
            </a:r>
            <a:br/>
            <a:r>
              <a:t>BUSINESS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E0EBF4"/>
                </a:solidFill>
              </a:defRPr>
            </a:pPr>
            <a:r>
              <a:t>A proposed strategic collaboration between</a:t>
            </a:r>
            <a:br/>
            <a:r>
              <a:t>Pankaj Kumar Jha &amp; Vishnu Godara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709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DA"/>
                </a:solidFill>
              </a:defRPr>
            </a:pPr>
            <a:r>
              <a:t>Market Entry  •  OEM Sales  •  Dealer Network  •  Service  •  Testing  •  Product Localization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Build one integrated India platform for an international agricultural equipment manufacturer.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India Market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Combine market knowledge, dealer relationships, OEM connections and field execution to accelerate market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73152" cy="1874519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Demand Creation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67128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Do more than sell machines: identify market gaps, demonstrate value, build customer confidence and create product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End-to-End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67128"/>
            <a:ext cx="306323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Sales + service + testing + validation + product improvement under one accountable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Proposed model: strategic partnership / India joint business platform with the manufacturing company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Focus: profitable, scalable and locally relevant agricultural machinery business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  <a:latin typeface="Aptos"/>
              </a:defRPr>
            </a:pPr>
            <a:r>
              <a:t>• Objective: establish a long-term India operation—not only a distribution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Why Pankaj Kumar Jha + Vishnu Godara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Two complementary profiles covering commercial leadership and technical/after-sales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48056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Pankaj Kumar Jha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9377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Senior General Manager &amp; Head – Farm Equipment Solutions, Tirth Agro Technology Pvt. Ltd. (SHAKTIMAN)</a:t>
            </a:r>
            <a:br/>
            <a:br/>
            <a:r>
              <a:t>• 17+ years in Indian agricultural machinery</a:t>
            </a:r>
            <a:br/>
            <a:r>
              <a:t>• Business strategy, sales, product management and dealer development</a:t>
            </a:r>
            <a:br/>
            <a:r>
              <a:t>• International business, OEM relationships and strategic alliances</a:t>
            </a:r>
            <a:br/>
            <a:r>
              <a:t>• Experience with large-scale P&amp;L and nationwide channel ecosystems</a:t>
            </a:r>
            <a:br/>
            <a:r>
              <a:t>• Strong market-entry and demand-creation capability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73152" cy="448056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60020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Vishnu Godara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075688"/>
            <a:ext cx="49377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Agricultural Engineering professional with 11+ years of MNC / international agricultural machinery experience</a:t>
            </a:r>
            <a:br/>
            <a:br/>
            <a:r>
              <a:t>• After-sales service, testing, field validation and failure analysis</a:t>
            </a:r>
            <a:br/>
            <a:r>
              <a:t>• Product demonstrations, installation, technician training and customer support</a:t>
            </a:r>
            <a:br/>
            <a:r>
              <a:t>• NPD / R&amp;D support and product improvement from field feedback</a:t>
            </a:r>
            <a:br/>
            <a:r>
              <a:t>• Strong understanding of balers, implements and combine-harvester applications</a:t>
            </a:r>
            <a:br/>
            <a:r>
              <a:t>• Focus on building service capability alongside sales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Proven Ability to Create &amp; Scale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Our value is not limited to distribution—we can build the market around the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20116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Pankaj — Market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49377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Experience in introducing and developing agricultural implement categories in India, including creating customer and channel demand around new products.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657600"/>
            <a:ext cx="73152" cy="201168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Pankaj — Commercial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49377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Experience spanning business strategy, product portfolio, exports, dealer networks, OEM relationships and large teams.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1732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417320"/>
            <a:ext cx="73152" cy="20116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Vishnu — Krone Baler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75688"/>
            <a:ext cx="49377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When Vishnu joined, the business had been selling around 50 balers. After service-team setup and market strategy, the target is more than 500 balers in the current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657600"/>
            <a:ext cx="5349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3657600"/>
            <a:ext cx="73152" cy="201168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40480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Forward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315968"/>
            <a:ext cx="493775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The business is targeting approximately 700–1,000 baler bookings in the following growth phase, supported by service, demonstrations and market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What We Bring to the Partnership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Market &amp;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Dealer/distributor development, territory planning, customer relationships and market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OEM &amp; Institutional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Direct OEM engagement, strategic accounts, institutional/government opportunities and partnerships.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37160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Product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Product selection, localization, positioning, pricing inputs and portfolio planning.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Service &amp; Aftermarket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7880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Service network, training, installation, parts/spares and customer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520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52044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033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Testing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7880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Field trials, performance validation, failure analysis and pre-launch readiness.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5204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352044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370332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Product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17880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Convert field feedback into engineering inputs and demand-led product upgrades.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Proposed India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A single platform connecting manufacturer capabilities with Indian market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423160"/>
            <a:ext cx="38862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0520" y="2423160"/>
            <a:ext cx="73152" cy="146304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2606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INDIA BUSINESS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0815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Pankaj + Vishnu</a:t>
            </a:r>
            <a:br/>
            <a:r>
              <a:t>Strategic leadership &amp;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325880"/>
            <a:ext cx="73152" cy="132588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Manufacturer / JV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8424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Technology • Products • Manufacturing • Global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73152" cy="13258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8424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Farmers • Dealers • OEMs • 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251960"/>
            <a:ext cx="73152" cy="13258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1032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Sales • Demonstration • Dealer development • 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42519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4251960"/>
            <a:ext cx="73152" cy="132588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43484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910328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Testing • Validation • Failure analysis • Product improvement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2103120"/>
            <a:ext cx="182880" cy="3657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103120"/>
            <a:ext cx="45720" cy="3657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77639" y="4892040"/>
            <a:ext cx="182880" cy="3657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892040"/>
            <a:ext cx="45720" cy="36576"/>
          </a:xfrm>
          <a:prstGeom prst="rect">
            <a:avLst/>
          </a:prstGeom>
          <a:solidFill>
            <a:srgbClr val="BE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Business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The platform can support multiple revenue engines from day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1  OEM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Direct supply and strategic OEM programs for tractors, combines and implement manufacturers.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2  Dealer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Build regional and national dealer/distributor networks with defined targets and territory plans.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3  Direct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7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Demonstration-led sales to progressive farmers, contractors, custom-hiring businesses and fleet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4  Aftermarket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Parts, service contracts, training, warranty support and technician network.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840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5  Testing &amp;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Paid validation, field trials, certification support and India-specific product readiness.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657600"/>
            <a:ext cx="73152" cy="18288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84048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6  Product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15968"/>
            <a:ext cx="2971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Localization and new product development based on real Indian market demand.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Go-to-Market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Move from product selection to national scale through a controlled, data-driven process.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37160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32588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325880"/>
            <a:ext cx="73152" cy="16002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Market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8424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Segment crops, regions, customer needs and competitive products.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2588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325880"/>
            <a:ext cx="73152" cy="16002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50876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Product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8424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Select high-potential products and define India positioning.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137160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325880"/>
            <a:ext cx="73152" cy="16002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50876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Pilot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98424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Run field demonstrations, testing and customer validation.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70332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34440" y="3657600"/>
            <a:ext cx="73152" cy="16002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384048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Channel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1596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Appoint key dealers, train teams and build parts/service readiness.</a:t>
            </a:r>
          </a:p>
        </p:txBody>
      </p:sp>
      <p:sp>
        <p:nvSpPr>
          <p:cNvPr id="25" name="Oval 24"/>
          <p:cNvSpPr/>
          <p:nvPr/>
        </p:nvSpPr>
        <p:spPr>
          <a:xfrm>
            <a:off x="4297680" y="370332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3657600"/>
            <a:ext cx="73152" cy="16002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57800" y="384048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Demand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31596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Demonstrations, farmer engagement, OEM programs and targeted marketing.</a:t>
            </a:r>
          </a:p>
        </p:txBody>
      </p:sp>
      <p:sp>
        <p:nvSpPr>
          <p:cNvPr id="30" name="Oval 29"/>
          <p:cNvSpPr/>
          <p:nvPr/>
        </p:nvSpPr>
        <p:spPr>
          <a:xfrm>
            <a:off x="8092440" y="3703320"/>
            <a:ext cx="566928" cy="566928"/>
          </a:xfrm>
          <a:prstGeom prst="ellipse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657600"/>
            <a:ext cx="2880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23960" y="3657600"/>
            <a:ext cx="73152" cy="16002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3840480"/>
            <a:ext cx="2468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315968"/>
            <a:ext cx="24688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Expand territories, localize products and build sustainable P&amp;L.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63F"/>
                </a:solidFill>
                <a:latin typeface="Aptos Display"/>
              </a:defRPr>
            </a:pPr>
            <a:r>
              <a:t>Why a Manufacturer Should Partner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5707C"/>
                </a:solidFill>
                <a:latin typeface="Aptos"/>
              </a:defRPr>
            </a:pPr>
            <a:r>
              <a:t>A lower-risk path to build a serious India business with local 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Local leadership with deep agricultural machinery market understanding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Ability to connect product strategy directly with farmer and dealer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Commercial capability to create demand—not simply wait for inbound enquiries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Technical capability to establish service, testing, validation and field support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Faster feedback from India market to the manufacturer's engineering and product teams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One accountable team covering launch, sales, aftermarket and continuous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232B34"/>
                </a:solidFill>
                <a:latin typeface="Aptos"/>
              </a:defRPr>
            </a:pPr>
            <a:r>
              <a:t>• Long-term objective: build a scalable India business with strong brand equity and profitability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5707C"/>
                </a:solidFill>
              </a:defRPr>
            </a:pPr>
            <a:r>
              <a:t>India Agricultural Equipment Business Platform  |  Confidential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PROPOSED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73152" cy="20574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Step 1 — Strategic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7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Understand the manufacturer's product portfolio, India ambitions, investment model and priority segments.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73152" cy="2057400"/>
          </a:xfrm>
          <a:prstGeom prst="rect">
            <a:avLst/>
          </a:prstGeom>
          <a:solidFill>
            <a:srgbClr val="D69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Step 2 —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32887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Jointly define product roadmap, market-entry plan, organization, investment and commercial targets.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3832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74519"/>
            <a:ext cx="73152" cy="20574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5740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63F"/>
                </a:solidFill>
              </a:defRPr>
            </a:pPr>
            <a:r>
              <a:t>Step 3 —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32887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B34"/>
                </a:solidFill>
              </a:defRPr>
            </a:pPr>
            <a:r>
              <a:t>Start with selected products, pilot territories and a strong service + demonstration backbone.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3327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“Let us build an India business that combines global technology with local market intelligence, demand creation and world-class execution.”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6235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DCE6F0"/>
                </a:solidFill>
              </a:defRPr>
            </a:pPr>
            <a:r>
              <a:t>Pankaj Kumar Jha   |   Vishnu Godara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